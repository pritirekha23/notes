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C2E4E-F795-431C-9139-A7294506CD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848A31-8A04-44C6-AAF6-C9E1902005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63A18-BF55-4FA1-B41C-A1B29524D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9ACE-A4CA-4B17-B17B-B25B01CAACA4}" type="datetimeFigureOut">
              <a:rPr lang="en-IN" smtClean="0"/>
              <a:t>31-03-2021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49048-7831-4780-91C4-B294E4B2B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8B4B1-CE3D-4F9E-B380-889D409F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37FEB-7AF1-44D9-8E6F-49F78B98F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602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2BCCA-4665-4ACE-9D75-E26EBD69E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7CDA6-20E0-4653-B241-29085B789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3CBAE-DA3F-4FF9-868C-6CB642160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9ACE-A4CA-4B17-B17B-B25B01CAACA4}" type="datetimeFigureOut">
              <a:rPr lang="en-IN" smtClean="0"/>
              <a:t>31-03-2021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C094F-69B7-4582-91D9-4D869AC5A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F72D3-E736-49C3-9036-09F67F954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37FEB-7AF1-44D9-8E6F-49F78B98F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175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0F309-20A3-4450-9DE6-2C9694F3B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877FE0-8892-4B66-9019-FB29ADF56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69283-BDB4-4844-A07C-84E8BC1DF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9ACE-A4CA-4B17-B17B-B25B01CAACA4}" type="datetimeFigureOut">
              <a:rPr lang="en-IN" smtClean="0"/>
              <a:t>31-03-2021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81D0C-B842-4CAC-880D-29F9A5C32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D4F5F-143C-4D3E-87A9-670AEA991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37FEB-7AF1-44D9-8E6F-49F78B98F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668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8ACBA-3563-4F04-9801-DA284C283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1FAD4-9AE3-481D-A278-F5A44B49FF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BC3680-F968-4710-9EF2-D494C385EB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B2B937-B4BC-4DD2-81EE-B9528C3EB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9ACE-A4CA-4B17-B17B-B25B01CAACA4}" type="datetimeFigureOut">
              <a:rPr lang="en-IN" smtClean="0"/>
              <a:t>31-03-2021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AEC6D-A0F4-4CAE-87AC-F5C6EEF44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3E6DE3-D1CD-424A-A32C-6F89C8768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37FEB-7AF1-44D9-8E6F-49F78B98F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740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C80C0-3ADE-41F3-943F-4A45A9E78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C35AB-2D64-47D1-AECF-D00236DB4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F88D7-75B4-4808-9C88-491B58AAC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62063-B464-4CFB-B11C-C24D232A9B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0E9037-73DE-463F-A7BC-6379D75865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CDD054-D221-4D55-9073-920CB8240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9ACE-A4CA-4B17-B17B-B25B01CAACA4}" type="datetimeFigureOut">
              <a:rPr lang="en-IN" smtClean="0"/>
              <a:t>31-03-2021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71C540-FD50-4947-BFAC-5D07CC5EE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F58AF6-84B9-41FB-A3B4-2B8B27A8D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37FEB-7AF1-44D9-8E6F-49F78B98F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526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E328F-466C-4127-A5FF-F561B7120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6FE02B-FE73-4BCD-A97F-C0B2E058D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9ACE-A4CA-4B17-B17B-B25B01CAACA4}" type="datetimeFigureOut">
              <a:rPr lang="en-IN" smtClean="0"/>
              <a:t>31-03-2021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50AEAC-107D-4C0D-9962-747D52FAE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6E618A-7547-421C-8237-F54885563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37FEB-7AF1-44D9-8E6F-49F78B98F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066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29BDB6-53C4-463B-B60E-E35D85F29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9ACE-A4CA-4B17-B17B-B25B01CAACA4}" type="datetimeFigureOut">
              <a:rPr lang="en-IN" smtClean="0"/>
              <a:t>31-03-2021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3C754F-44A4-4CB1-9C4E-623EC809F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79DF2-9076-4772-9134-BEEB61F71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37FEB-7AF1-44D9-8E6F-49F78B98F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540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2CC14-612E-4569-B2C3-CDDACAE19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F9CD2-5888-4F83-ACD4-2612332D5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33085-BC81-4F0B-809E-04D944CDB6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33B75-99DA-4D79-864E-F87E229D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9ACE-A4CA-4B17-B17B-B25B01CAACA4}" type="datetimeFigureOut">
              <a:rPr lang="en-IN" smtClean="0"/>
              <a:t>31-03-2021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4AD5B0-D405-49C2-B8AC-9A38FC791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551926-DEF6-4FFE-AB65-20796939E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37FEB-7AF1-44D9-8E6F-49F78B98F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4973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03C18-13B8-4546-A754-3839F07D4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991222-571C-4B74-97EA-69DDEBFADF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BC073F-FFF0-47A3-9A3E-C87FCAF26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17018B-69D6-423F-8E18-A6B03BAC9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9ACE-A4CA-4B17-B17B-B25B01CAACA4}" type="datetimeFigureOut">
              <a:rPr lang="en-IN" smtClean="0"/>
              <a:t>31-03-2021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6BB5B-C984-43BC-87E2-945BD031E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F55771-4970-4196-8105-3358C5F4E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37FEB-7AF1-44D9-8E6F-49F78B98F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955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09501-6C0C-4738-9E75-FCFB76606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5FA090-2206-4638-9DA7-D9AB695098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CE079-2D22-42E9-8033-02938D9DF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9ACE-A4CA-4B17-B17B-B25B01CAACA4}" type="datetimeFigureOut">
              <a:rPr lang="en-IN" smtClean="0"/>
              <a:t>31-03-2021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3C845-071A-4D99-AFF8-D37FF0BDB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73961-54F6-4E91-BD2C-954B642EC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37FEB-7AF1-44D9-8E6F-49F78B98F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022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FF324B-2DBC-4FF7-BA56-D2514BA979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27E275-6F2C-4A32-9442-EF5F03561F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0970A-7FB4-4DEC-A83E-5404DC773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9ACE-A4CA-4B17-B17B-B25B01CAACA4}" type="datetimeFigureOut">
              <a:rPr lang="en-IN" smtClean="0"/>
              <a:t>31-03-2021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76367-318B-4302-A298-134C691A8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D368A-2754-4110-A6FF-195AC507E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37FEB-7AF1-44D9-8E6F-49F78B98F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180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26F96F-4275-4C78-9832-500FE438C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92CAAA-DE46-416C-9076-81BAB6B17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02EAE-47E0-4106-9DB3-85B42BCCC7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429ACE-A4CA-4B17-B17B-B25B01CAACA4}" type="datetimeFigureOut">
              <a:rPr lang="en-IN" smtClean="0"/>
              <a:t>31-03-2021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0645F-3E16-4E8F-BC40-1CAD919BE2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4D5DA-84BE-491C-BE0E-28D113342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A37FEB-7AF1-44D9-8E6F-49F78B98F4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714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CF396-5954-4222-87E3-6F1A2DE7A8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0E12D4-1E9C-4A70-ADC1-B5546AE62A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192719-D917-4D73-B539-B96DF3605A2F}"/>
              </a:ext>
            </a:extLst>
          </p:cNvPr>
          <p:cNvSpPr/>
          <p:nvPr/>
        </p:nvSpPr>
        <p:spPr>
          <a:xfrm>
            <a:off x="6997148" y="4055165"/>
            <a:ext cx="3193774" cy="78187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rgbClr val="FFFF00"/>
                </a:solidFill>
                <a:latin typeface="Consolas" panose="020B0609020204030204" pitchFamily="49" charset="0"/>
              </a:rPr>
              <a:t>B + TREE</a:t>
            </a:r>
            <a:endParaRPr lang="en-IN" sz="48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251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561E1-8428-47D2-8250-07CDC0527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5292"/>
          </a:xfrm>
          <a:solidFill>
            <a:srgbClr val="00B050"/>
          </a:solidFill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Introduction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42170-D12F-4990-906B-BC4FA796E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2208"/>
            <a:ext cx="10515600" cy="5220665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B+ Tree is an extension of B Tree which allows efficient insertion, deletion and search operations.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 B Tree, Keys and records both can be stored in the internal as well as leaf nodes. 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Whereas, in B+ tree, records (data) can only be stored on the leaf nodes while internal nodes can only store the key values.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The leaf nodes of a B+ tree are linked together in the form of a singly linked lists to make the search queries more  efficient 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128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561E1-8428-47D2-8250-07CDC0527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5292"/>
          </a:xfrm>
          <a:solidFill>
            <a:srgbClr val="00B050"/>
          </a:solidFill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Multilevel Indexing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42170-D12F-4990-906B-BC4FA796E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2208"/>
            <a:ext cx="10515600" cy="52206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4749FF-4CF0-44BD-88BE-1701AD003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79" y="755374"/>
            <a:ext cx="10876721" cy="59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278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561E1-8428-47D2-8250-07CDC0527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5292"/>
          </a:xfrm>
          <a:solidFill>
            <a:srgbClr val="00B050"/>
          </a:solidFill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Advantage 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42170-D12F-4990-906B-BC4FA796E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2208"/>
            <a:ext cx="10515600" cy="5220665"/>
          </a:xfrm>
        </p:spPr>
        <p:txBody>
          <a:bodyPr>
            <a:normAutofit/>
          </a:bodyPr>
          <a:lstStyle/>
          <a:p>
            <a:pPr algn="l"/>
            <a:r>
              <a:rPr lang="en-US" b="0" i="0" dirty="0">
                <a:solidFill>
                  <a:srgbClr val="610B38"/>
                </a:solidFill>
                <a:effectLst/>
                <a:latin typeface="Consolas" panose="020B0609020204030204" pitchFamily="49" charset="0"/>
              </a:rPr>
              <a:t>Advantages of B+ Tree</a:t>
            </a:r>
          </a:p>
          <a:p>
            <a:pPr algn="l"/>
            <a:endParaRPr lang="en-US" b="0" i="0" dirty="0">
              <a:solidFill>
                <a:srgbClr val="610B38"/>
              </a:solidFill>
              <a:effectLst/>
              <a:latin typeface="Consolas" panose="020B0609020204030204" pitchFamily="49" charset="0"/>
            </a:endParaRP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Height of the tree remains balanced and less as compare to B tree.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 can access the data stored in a B+ tree sequentially as well as directly.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Keys are used for indexing.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Faster search queries as the data is stored only on the leaf nodes.</a:t>
            </a:r>
          </a:p>
          <a:p>
            <a:pPr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Records can be fetched in equal number of disk accesses.</a:t>
            </a:r>
          </a:p>
          <a:p>
            <a:pPr algn="l">
              <a:buFont typeface="+mj-lt"/>
              <a:buAutoNum type="arabicPeriod"/>
            </a:pP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221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561E1-8428-47D2-8250-07CDC0527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5292"/>
          </a:xfrm>
          <a:solidFill>
            <a:srgbClr val="00B0F0"/>
          </a:solidFill>
        </p:spPr>
        <p:txBody>
          <a:bodyPr>
            <a:normAutofit/>
          </a:bodyPr>
          <a:lstStyle/>
          <a:p>
            <a:pPr algn="l"/>
            <a:r>
              <a:rPr lang="en-US" sz="3200" b="1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Properties of a B+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42170-D12F-4990-906B-BC4FA796E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2208"/>
            <a:ext cx="10515600" cy="5220665"/>
          </a:xfrm>
        </p:spPr>
        <p:txBody>
          <a:bodyPr>
            <a:normAutofit/>
          </a:bodyPr>
          <a:lstStyle/>
          <a:p>
            <a:pPr algn="l"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Consolas" panose="020B0609020204030204" pitchFamily="49" charset="0"/>
              </a:rPr>
              <a:t>All leaves are at the same level.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n-US" b="0" i="0" dirty="0">
              <a:effectLst/>
              <a:latin typeface="Consolas" panose="020B0609020204030204" pitchFamily="49" charset="0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Consolas" panose="020B0609020204030204" pitchFamily="49" charset="0"/>
              </a:rPr>
              <a:t>The root has at least two children.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n-US" b="0" i="0" dirty="0">
              <a:effectLst/>
              <a:latin typeface="Consolas" panose="020B0609020204030204" pitchFamily="49" charset="0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Consolas" panose="020B0609020204030204" pitchFamily="49" charset="0"/>
              </a:rPr>
              <a:t>Each node except root can have a maximum of m children and at least m/2 children.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n-US" b="0" i="0" dirty="0">
              <a:effectLst/>
              <a:latin typeface="Consolas" panose="020B0609020204030204" pitchFamily="49" charset="0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0" i="0" dirty="0">
                <a:effectLst/>
                <a:latin typeface="Consolas" panose="020B0609020204030204" pitchFamily="49" charset="0"/>
              </a:rPr>
              <a:t>Each node can contain a maximum of m - 1 keys and a minimum of ⌈m/2⌉ - 1 keys.</a:t>
            </a:r>
          </a:p>
        </p:txBody>
      </p:sp>
    </p:spTree>
    <p:extLst>
      <p:ext uri="{BB962C8B-B14F-4D97-AF65-F5344CB8AC3E}">
        <p14:creationId xmlns:p14="http://schemas.microsoft.com/office/powerpoint/2010/main" val="243995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561E1-8428-47D2-8250-07CDC0527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5292"/>
          </a:xfrm>
          <a:solidFill>
            <a:srgbClr val="002060"/>
          </a:solidFill>
        </p:spPr>
        <p:txBody>
          <a:bodyPr>
            <a:normAutofit/>
          </a:bodyPr>
          <a:lstStyle/>
          <a:p>
            <a:pPr algn="l"/>
            <a:r>
              <a:rPr lang="en-US" sz="3200" b="0" i="0" dirty="0">
                <a:solidFill>
                  <a:schemeClr val="bg1"/>
                </a:solidFill>
                <a:effectLst/>
                <a:latin typeface="erdana"/>
              </a:rPr>
              <a:t>Insertion in B+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42170-D12F-4990-906B-BC4FA796E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2208"/>
            <a:ext cx="10515600" cy="522066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Step 1: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Insert the new node as a leaf node</a:t>
            </a:r>
          </a:p>
          <a:p>
            <a:pPr marL="0" indent="0" algn="l">
              <a:buNone/>
            </a:pP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Step 2: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If the leaf doesn't have required space, split the node and copy the middle node to the next index node.</a:t>
            </a:r>
          </a:p>
          <a:p>
            <a:pPr marL="0" indent="0" algn="l">
              <a:buNone/>
            </a:pP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Step 3: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If the index node doesn't have required space, split the node and copy the middle element to the next index page</a:t>
            </a:r>
          </a:p>
        </p:txBody>
      </p:sp>
    </p:spTree>
    <p:extLst>
      <p:ext uri="{BB962C8B-B14F-4D97-AF65-F5344CB8AC3E}">
        <p14:creationId xmlns:p14="http://schemas.microsoft.com/office/powerpoint/2010/main" val="2448117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561E1-8428-47D2-8250-07CDC0527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5292"/>
          </a:xfrm>
          <a:solidFill>
            <a:srgbClr val="002060"/>
          </a:solidFill>
        </p:spPr>
        <p:txBody>
          <a:bodyPr>
            <a:normAutofit/>
          </a:bodyPr>
          <a:lstStyle/>
          <a:p>
            <a:pPr algn="l"/>
            <a:r>
              <a:rPr lang="en-US" sz="3200" b="0" i="0" dirty="0">
                <a:solidFill>
                  <a:schemeClr val="bg1"/>
                </a:solidFill>
                <a:effectLst/>
                <a:latin typeface="erdana"/>
              </a:rPr>
              <a:t>Insertion in B+ Tree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42170-D12F-4990-906B-BC4FA796E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2208"/>
            <a:ext cx="10515600" cy="522066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Insert elements 5   15   25    35   45 </a:t>
            </a:r>
          </a:p>
        </p:txBody>
      </p:sp>
    </p:spTree>
    <p:extLst>
      <p:ext uri="{BB962C8B-B14F-4D97-AF65-F5344CB8AC3E}">
        <p14:creationId xmlns:p14="http://schemas.microsoft.com/office/powerpoint/2010/main" val="1060288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561E1-8428-47D2-8250-07CDC0527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5292"/>
          </a:xfrm>
          <a:solidFill>
            <a:srgbClr val="7030A0"/>
          </a:solidFill>
        </p:spPr>
        <p:txBody>
          <a:bodyPr>
            <a:normAutofit/>
          </a:bodyPr>
          <a:lstStyle/>
          <a:p>
            <a:pPr algn="l"/>
            <a:r>
              <a:rPr lang="en-US" sz="3600" b="0" i="0" dirty="0">
                <a:solidFill>
                  <a:schemeClr val="bg1"/>
                </a:solidFill>
                <a:effectLst/>
                <a:latin typeface="erdana"/>
              </a:rPr>
              <a:t>Deletion in B+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42170-D12F-4990-906B-BC4FA796E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2208"/>
            <a:ext cx="10515600" cy="5220665"/>
          </a:xfrm>
        </p:spPr>
        <p:txBody>
          <a:bodyPr>
            <a:normAutofit/>
          </a:bodyPr>
          <a:lstStyle/>
          <a:p>
            <a:pPr algn="l"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Step 1: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Delete the key and data from the leaves.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Step 2: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if the leaf node contains less than minimum number of elements, merge down the node with its sibling and delete the key in between them.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n-US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Step 3: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if the index node contains less than minimum number of elements, merge the node with the sibling and move down the key in between them.</a:t>
            </a:r>
          </a:p>
        </p:txBody>
      </p:sp>
    </p:spTree>
    <p:extLst>
      <p:ext uri="{BB962C8B-B14F-4D97-AF65-F5344CB8AC3E}">
        <p14:creationId xmlns:p14="http://schemas.microsoft.com/office/powerpoint/2010/main" val="4213222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561E1-8428-47D2-8250-07CDC0527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5292"/>
          </a:xfrm>
          <a:solidFill>
            <a:srgbClr val="7030A0"/>
          </a:solidFill>
        </p:spPr>
        <p:txBody>
          <a:bodyPr>
            <a:normAutofit/>
          </a:bodyPr>
          <a:lstStyle/>
          <a:p>
            <a:pPr algn="l"/>
            <a:r>
              <a:rPr lang="en-US" sz="3200" b="0" i="0" dirty="0">
                <a:solidFill>
                  <a:schemeClr val="bg1"/>
                </a:solidFill>
                <a:effectLst/>
                <a:latin typeface="erdana"/>
              </a:rPr>
              <a:t>Deletion in B+ Tree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42170-D12F-4990-906B-BC4FA796E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2208"/>
            <a:ext cx="10515600" cy="522066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18286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E477-D935-42C9-B42D-CAF8FE572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280374" cy="761310"/>
          </a:xfrm>
          <a:solidFill>
            <a:srgbClr val="002060"/>
          </a:solidFill>
        </p:spPr>
        <p:txBody>
          <a:bodyPr>
            <a:noAutofit/>
          </a:bodyPr>
          <a:lstStyle/>
          <a:p>
            <a:br>
              <a:rPr lang="en-US" sz="3200" b="0" i="0" dirty="0">
                <a:solidFill>
                  <a:srgbClr val="610B38"/>
                </a:solidFill>
                <a:effectLst/>
                <a:latin typeface="erdana"/>
              </a:rPr>
            </a:br>
            <a:r>
              <a:rPr lang="en-US" sz="3200" b="1" i="0" dirty="0">
                <a:solidFill>
                  <a:schemeClr val="bg1"/>
                </a:solidFill>
                <a:effectLst/>
                <a:latin typeface="erdana"/>
              </a:rPr>
              <a:t>B Tree  VS  B+ Tree</a:t>
            </a:r>
            <a:br>
              <a:rPr lang="en-US" sz="3200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sz="3200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17905-621A-45FB-8213-9A21BEE632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78226"/>
            <a:ext cx="4953000" cy="4798737"/>
          </a:xfrm>
        </p:spPr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lphaLcPeriod"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Search keys can not be repeatedly stored.</a:t>
            </a:r>
          </a:p>
          <a:p>
            <a:pPr marL="514350" indent="-514350">
              <a:buFont typeface="+mj-lt"/>
              <a:buAutoNum type="alphaLcPeriod"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 can be stored in leaf nodes as well as internal nodes</a:t>
            </a:r>
          </a:p>
          <a:p>
            <a:pPr marL="514350" indent="-514350">
              <a:buFont typeface="+mj-lt"/>
              <a:buAutoNum type="alphaLcPeriod"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Deletion of internal nodes are so complicated and time consuming.</a:t>
            </a:r>
          </a:p>
          <a:p>
            <a:pPr marL="514350" indent="-514350">
              <a:buFont typeface="+mj-lt"/>
              <a:buAutoNum type="alphaLcPeriod"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Leaf nodes can not be linked together.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9C913C-5A8A-48DF-A4DB-1401FE6B4B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378226"/>
            <a:ext cx="5257800" cy="4798737"/>
          </a:xfrm>
        </p:spPr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lphaLcPeriod"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Redundant search keys can be present</a:t>
            </a:r>
          </a:p>
          <a:p>
            <a:pPr marL="514350" indent="-514350">
              <a:buFont typeface="+mj-lt"/>
              <a:buAutoNum type="alphaLcPeriod"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 can only be stored on the leaf nodes.</a:t>
            </a:r>
          </a:p>
          <a:p>
            <a:pPr marL="514350" indent="-514350">
              <a:buFont typeface="+mj-lt"/>
              <a:buAutoNum type="alphaLcPeriod"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Deletion will never be a complexed process since element will always be deleted from the let.</a:t>
            </a:r>
          </a:p>
          <a:p>
            <a:pPr marL="514350" indent="-514350">
              <a:buFont typeface="+mj-lt"/>
              <a:buAutoNum type="alphaLcPeriod"/>
            </a:pP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Leaf nodes are linked together to make the search operations more efficient.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377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492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erdana</vt:lpstr>
      <vt:lpstr>Wingdings</vt:lpstr>
      <vt:lpstr>Office Theme</vt:lpstr>
      <vt:lpstr>  </vt:lpstr>
      <vt:lpstr>Introduction</vt:lpstr>
      <vt:lpstr>Multilevel Indexing</vt:lpstr>
      <vt:lpstr>Advantage </vt:lpstr>
      <vt:lpstr>Properties of a B+ Tree</vt:lpstr>
      <vt:lpstr>Insertion in B+ Tree</vt:lpstr>
      <vt:lpstr>Insertion in B+ Tree example</vt:lpstr>
      <vt:lpstr>Deletion in B+ Tree</vt:lpstr>
      <vt:lpstr>Deletion in B+ Tree example</vt:lpstr>
      <vt:lpstr> B Tree  VS  B+ Tree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</dc:title>
  <dc:creator>surendra panda</dc:creator>
  <cp:lastModifiedBy>surendra panda</cp:lastModifiedBy>
  <cp:revision>4</cp:revision>
  <dcterms:created xsi:type="dcterms:W3CDTF">2021-03-31T02:25:22Z</dcterms:created>
  <dcterms:modified xsi:type="dcterms:W3CDTF">2021-03-31T02:54:24Z</dcterms:modified>
</cp:coreProperties>
</file>