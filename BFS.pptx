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04454" y="4429919"/>
            <a:ext cx="5439410" cy="1046920"/>
          </a:xfrm>
          <a:prstGeom prst="round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BFS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BB7556-A95E-4827-BBE3-E3824E348005}"/>
              </a:ext>
            </a:extLst>
          </p:cNvPr>
          <p:cNvSpPr txBox="1"/>
          <p:nvPr/>
        </p:nvSpPr>
        <p:spPr>
          <a:xfrm>
            <a:off x="4611757" y="5645426"/>
            <a:ext cx="8256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i="0" dirty="0">
                <a:solidFill>
                  <a:srgbClr val="333333"/>
                </a:solidFill>
                <a:effectLst/>
                <a:latin typeface="Comfortaa"/>
              </a:rPr>
              <a:t>Graph Traversal Technique 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CCD91-C538-4D18-A0FD-AA47F78C5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119271"/>
            <a:ext cx="11953461" cy="660121"/>
          </a:xfrm>
          <a:solidFill>
            <a:srgbClr val="0070C0"/>
          </a:solidFill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+mn-lt"/>
              </a:rPr>
              <a:t>Traversal Introduction</a:t>
            </a:r>
            <a:endParaRPr lang="en-IN" sz="32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1353D-9B56-4AF3-9B2A-6268AA8B1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538" y="1113183"/>
            <a:ext cx="11953461" cy="5499651"/>
          </a:xfrm>
        </p:spPr>
        <p:txBody>
          <a:bodyPr/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Graph traversal is a technique used for searching a vertex in a graph.</a:t>
            </a:r>
          </a:p>
          <a:p>
            <a:endParaRPr lang="en-GB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r>
              <a:rPr lang="en-GB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 graph traversal finds the edges to be used in the search process without creating loops.</a:t>
            </a:r>
          </a:p>
          <a:p>
            <a:endParaRPr lang="en-GB" dirty="0">
              <a:solidFill>
                <a:srgbClr val="333333"/>
              </a:solidFill>
              <a:latin typeface="Open Sans" panose="020B0606030504020204" pitchFamily="34" charset="0"/>
            </a:endParaRPr>
          </a:p>
          <a:p>
            <a:r>
              <a:rPr lang="en-GB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That means using graph traversal we visit all the vertices of the graph without getting into looping path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9111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CCD91-C538-4D18-A0FD-AA47F78C5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119271"/>
            <a:ext cx="11953461" cy="660121"/>
          </a:xfrm>
          <a:solidFill>
            <a:srgbClr val="0070C0"/>
          </a:solidFill>
        </p:spPr>
        <p:txBody>
          <a:bodyPr>
            <a:noAutofit/>
          </a:bodyPr>
          <a:lstStyle/>
          <a:p>
            <a:pPr algn="ctr"/>
            <a:br>
              <a:rPr lang="en-IN" sz="3200" b="1" i="0" dirty="0">
                <a:solidFill>
                  <a:schemeClr val="bg1"/>
                </a:solidFill>
                <a:effectLst/>
                <a:latin typeface="+mn-lt"/>
              </a:rPr>
            </a:br>
            <a:r>
              <a:rPr lang="en-IN" sz="3200" b="1" i="0" dirty="0">
                <a:solidFill>
                  <a:schemeClr val="bg1"/>
                </a:solidFill>
                <a:effectLst/>
                <a:latin typeface="+mn-lt"/>
              </a:rPr>
              <a:t>	BFS (Breadth First Search)</a:t>
            </a:r>
            <a:br>
              <a:rPr lang="en-IN" sz="3200" b="1" i="0" dirty="0">
                <a:solidFill>
                  <a:schemeClr val="bg1"/>
                </a:solidFill>
                <a:effectLst/>
                <a:latin typeface="+mn-lt"/>
              </a:rPr>
            </a:br>
            <a:endParaRPr lang="en-IN" sz="3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1353D-9B56-4AF3-9B2A-6268AA8B1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538" y="1113183"/>
            <a:ext cx="11953461" cy="5499651"/>
          </a:xfrm>
        </p:spPr>
        <p:txBody>
          <a:bodyPr/>
          <a:lstStyle/>
          <a:p>
            <a:r>
              <a:rPr lang="en-GB" b="0" i="0" dirty="0">
                <a:solidFill>
                  <a:srgbClr val="333333"/>
                </a:solidFill>
                <a:effectLst/>
              </a:rPr>
              <a:t>BFS traversal of a graph produces a </a:t>
            </a:r>
            <a:r>
              <a:rPr lang="en-GB" b="1" i="0" dirty="0">
                <a:solidFill>
                  <a:srgbClr val="333333"/>
                </a:solidFill>
                <a:effectLst/>
              </a:rPr>
              <a:t>spanning tree</a:t>
            </a:r>
            <a:r>
              <a:rPr lang="en-GB" b="0" i="0" dirty="0">
                <a:solidFill>
                  <a:srgbClr val="333333"/>
                </a:solidFill>
                <a:effectLst/>
              </a:rPr>
              <a:t> as final result. </a:t>
            </a:r>
          </a:p>
          <a:p>
            <a:endParaRPr lang="en-GB" b="0" i="0" dirty="0">
              <a:solidFill>
                <a:srgbClr val="333333"/>
              </a:solidFill>
              <a:effectLst/>
            </a:endParaRPr>
          </a:p>
          <a:p>
            <a:r>
              <a:rPr lang="en-GB" b="1" i="0" dirty="0">
                <a:solidFill>
                  <a:srgbClr val="333333"/>
                </a:solidFill>
                <a:effectLst/>
              </a:rPr>
              <a:t>Spanning Tree</a:t>
            </a:r>
            <a:r>
              <a:rPr lang="en-GB" b="0" i="0" dirty="0">
                <a:solidFill>
                  <a:srgbClr val="333333"/>
                </a:solidFill>
                <a:effectLst/>
              </a:rPr>
              <a:t> is a graph without loops.</a:t>
            </a:r>
          </a:p>
          <a:p>
            <a:endParaRPr lang="en-GB" dirty="0">
              <a:solidFill>
                <a:srgbClr val="333333"/>
              </a:solidFill>
            </a:endParaRPr>
          </a:p>
          <a:p>
            <a:r>
              <a:rPr lang="en-GB" b="0" i="0" dirty="0">
                <a:solidFill>
                  <a:srgbClr val="333333"/>
                </a:solidFill>
                <a:effectLst/>
              </a:rPr>
              <a:t>We use </a:t>
            </a:r>
            <a:r>
              <a:rPr lang="en-GB" b="1" i="0" dirty="0">
                <a:solidFill>
                  <a:srgbClr val="333333"/>
                </a:solidFill>
                <a:effectLst/>
              </a:rPr>
              <a:t>Queue data structure</a:t>
            </a:r>
            <a:r>
              <a:rPr lang="en-GB" b="0" i="0" dirty="0">
                <a:solidFill>
                  <a:srgbClr val="333333"/>
                </a:solidFill>
                <a:effectLst/>
              </a:rPr>
              <a:t> with maximum size of total number of vertices in the graph to implement BFS traversal.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578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CCD91-C538-4D18-A0FD-AA47F78C5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119271"/>
            <a:ext cx="11953461" cy="660121"/>
          </a:xfrm>
          <a:solidFill>
            <a:srgbClr val="0070C0"/>
          </a:solidFill>
        </p:spPr>
        <p:txBody>
          <a:bodyPr>
            <a:noAutofit/>
          </a:bodyPr>
          <a:lstStyle/>
          <a:p>
            <a:pPr algn="ctr"/>
            <a:br>
              <a:rPr lang="en-IN" sz="3200" b="1" i="0" dirty="0">
                <a:solidFill>
                  <a:schemeClr val="bg1"/>
                </a:solidFill>
                <a:effectLst/>
                <a:latin typeface="+mn-lt"/>
              </a:rPr>
            </a:br>
            <a:r>
              <a:rPr lang="en-IN" sz="3200" b="1" i="0" dirty="0">
                <a:solidFill>
                  <a:schemeClr val="bg1"/>
                </a:solidFill>
                <a:effectLst/>
                <a:latin typeface="+mn-lt"/>
              </a:rPr>
              <a:t>	BFS (Breadth First Search)</a:t>
            </a:r>
            <a:br>
              <a:rPr lang="en-IN" sz="3200" b="1" i="0" dirty="0">
                <a:solidFill>
                  <a:schemeClr val="bg1"/>
                </a:solidFill>
                <a:effectLst/>
                <a:latin typeface="+mn-lt"/>
              </a:rPr>
            </a:br>
            <a:endParaRPr lang="en-IN" sz="3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1353D-9B56-4AF3-9B2A-6268AA8B1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538" y="1113183"/>
            <a:ext cx="11953461" cy="5499651"/>
          </a:xfrm>
        </p:spPr>
        <p:txBody>
          <a:bodyPr/>
          <a:lstStyle/>
          <a:p>
            <a:r>
              <a:rPr lang="en-GB" b="0" i="0" dirty="0">
                <a:solidFill>
                  <a:srgbClr val="333333"/>
                </a:solidFill>
                <a:effectLst/>
              </a:rPr>
              <a:t>BFS traversal of a graph produces a </a:t>
            </a:r>
            <a:r>
              <a:rPr lang="en-GB" b="1" i="0" dirty="0">
                <a:solidFill>
                  <a:srgbClr val="333333"/>
                </a:solidFill>
                <a:effectLst/>
              </a:rPr>
              <a:t>spanning tree</a:t>
            </a:r>
            <a:r>
              <a:rPr lang="en-GB" b="0" i="0" dirty="0">
                <a:solidFill>
                  <a:srgbClr val="333333"/>
                </a:solidFill>
                <a:effectLst/>
              </a:rPr>
              <a:t> as final result. </a:t>
            </a:r>
          </a:p>
          <a:p>
            <a:endParaRPr lang="en-GB" b="0" i="0" dirty="0">
              <a:solidFill>
                <a:srgbClr val="333333"/>
              </a:solidFill>
              <a:effectLst/>
            </a:endParaRPr>
          </a:p>
          <a:p>
            <a:r>
              <a:rPr lang="en-GB" b="1" i="0" dirty="0">
                <a:solidFill>
                  <a:srgbClr val="333333"/>
                </a:solidFill>
                <a:effectLst/>
              </a:rPr>
              <a:t>Spanning Tree</a:t>
            </a:r>
            <a:r>
              <a:rPr lang="en-GB" b="0" i="0" dirty="0">
                <a:solidFill>
                  <a:srgbClr val="333333"/>
                </a:solidFill>
                <a:effectLst/>
              </a:rPr>
              <a:t> is a graph without loops.</a:t>
            </a:r>
          </a:p>
          <a:p>
            <a:endParaRPr lang="en-GB" dirty="0">
              <a:solidFill>
                <a:srgbClr val="333333"/>
              </a:solidFill>
            </a:endParaRPr>
          </a:p>
          <a:p>
            <a:r>
              <a:rPr lang="en-GB" b="0" i="0" dirty="0">
                <a:solidFill>
                  <a:srgbClr val="333333"/>
                </a:solidFill>
                <a:effectLst/>
              </a:rPr>
              <a:t>We use </a:t>
            </a:r>
            <a:r>
              <a:rPr lang="en-GB" b="1" i="0" dirty="0">
                <a:solidFill>
                  <a:srgbClr val="333333"/>
                </a:solidFill>
                <a:effectLst/>
              </a:rPr>
              <a:t>Queue data structure</a:t>
            </a:r>
            <a:r>
              <a:rPr lang="en-GB" b="0" i="0" dirty="0">
                <a:solidFill>
                  <a:srgbClr val="333333"/>
                </a:solidFill>
                <a:effectLst/>
              </a:rPr>
              <a:t> with maximum size of total number of vertices in the graph to implement BFS traversal.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6523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CCD91-C538-4D18-A0FD-AA47F78C5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119271"/>
            <a:ext cx="11953461" cy="660121"/>
          </a:xfrm>
          <a:solidFill>
            <a:srgbClr val="0070C0"/>
          </a:solidFill>
        </p:spPr>
        <p:txBody>
          <a:bodyPr>
            <a:noAutofit/>
          </a:bodyPr>
          <a:lstStyle/>
          <a:p>
            <a:pPr algn="ctr"/>
            <a:br>
              <a:rPr lang="en-IN" sz="3200" b="1" i="0" dirty="0">
                <a:solidFill>
                  <a:schemeClr val="bg1"/>
                </a:solidFill>
                <a:effectLst/>
                <a:latin typeface="+mn-lt"/>
              </a:rPr>
            </a:br>
            <a:r>
              <a:rPr lang="en-IN" sz="3200" b="1" i="0" dirty="0">
                <a:solidFill>
                  <a:schemeClr val="bg1"/>
                </a:solidFill>
                <a:effectLst/>
                <a:latin typeface="+mn-lt"/>
              </a:rPr>
              <a:t>	BFS  Traversal steps </a:t>
            </a:r>
            <a:br>
              <a:rPr lang="en-IN" sz="3200" b="1" i="0" dirty="0">
                <a:solidFill>
                  <a:schemeClr val="bg1"/>
                </a:solidFill>
                <a:effectLst/>
                <a:latin typeface="+mn-lt"/>
              </a:rPr>
            </a:br>
            <a:endParaRPr lang="en-IN" sz="3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1353D-9B56-4AF3-9B2A-6268AA8B1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538" y="1113183"/>
            <a:ext cx="11953461" cy="5499651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62F59"/>
                </a:solidFill>
                <a:effectLst/>
              </a:rPr>
              <a:t>Step 1 - </a:t>
            </a:r>
            <a:r>
              <a:rPr lang="en-GB" b="0" i="0" dirty="0">
                <a:solidFill>
                  <a:srgbClr val="333333"/>
                </a:solidFill>
                <a:effectLst/>
              </a:rPr>
              <a:t>Define a Queue of size total number of vertices in the graph.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62F59"/>
                </a:solidFill>
                <a:effectLst/>
              </a:rPr>
              <a:t>Step 2 - </a:t>
            </a:r>
            <a:r>
              <a:rPr lang="en-GB" b="0" i="0" dirty="0">
                <a:solidFill>
                  <a:srgbClr val="333333"/>
                </a:solidFill>
                <a:effectLst/>
              </a:rPr>
              <a:t>Select any vertex as </a:t>
            </a:r>
            <a:r>
              <a:rPr lang="en-GB" b="1" i="0" dirty="0">
                <a:solidFill>
                  <a:srgbClr val="333333"/>
                </a:solidFill>
                <a:effectLst/>
              </a:rPr>
              <a:t>starting point</a:t>
            </a:r>
            <a:r>
              <a:rPr lang="en-GB" b="0" i="0" dirty="0">
                <a:solidFill>
                  <a:srgbClr val="333333"/>
                </a:solidFill>
                <a:effectLst/>
              </a:rPr>
              <a:t> for traversal. Visit that vertex and insert it into the Queue.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62F59"/>
                </a:solidFill>
                <a:effectLst/>
              </a:rPr>
              <a:t>Step 3 - </a:t>
            </a:r>
            <a:r>
              <a:rPr lang="en-GB" b="0" i="0" dirty="0">
                <a:solidFill>
                  <a:srgbClr val="333333"/>
                </a:solidFill>
                <a:effectLst/>
              </a:rPr>
              <a:t>Visit all the non-visited </a:t>
            </a:r>
            <a:r>
              <a:rPr lang="en-GB" b="1" i="0" dirty="0">
                <a:solidFill>
                  <a:srgbClr val="333333"/>
                </a:solidFill>
                <a:effectLst/>
              </a:rPr>
              <a:t>adjacent</a:t>
            </a:r>
            <a:r>
              <a:rPr lang="en-GB" b="0" i="0" dirty="0">
                <a:solidFill>
                  <a:srgbClr val="333333"/>
                </a:solidFill>
                <a:effectLst/>
              </a:rPr>
              <a:t> vertices of the vertex which is at front of the Queue and insert them into the Queue.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62F59"/>
                </a:solidFill>
                <a:effectLst/>
              </a:rPr>
              <a:t>Step 4 - </a:t>
            </a:r>
            <a:r>
              <a:rPr lang="en-GB" b="0" i="0" dirty="0">
                <a:solidFill>
                  <a:srgbClr val="333333"/>
                </a:solidFill>
                <a:effectLst/>
              </a:rPr>
              <a:t>When there is no new vertex to be visited from the vertex which is at front of the Queue then delete that vertex.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62F59"/>
                </a:solidFill>
                <a:effectLst/>
              </a:rPr>
              <a:t>Step 5 - </a:t>
            </a:r>
            <a:r>
              <a:rPr lang="en-GB" b="0" i="0" dirty="0">
                <a:solidFill>
                  <a:srgbClr val="333333"/>
                </a:solidFill>
                <a:effectLst/>
              </a:rPr>
              <a:t>Repeat steps 3 and 4 until queue becomes empty.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62F59"/>
                </a:solidFill>
                <a:effectLst/>
              </a:rPr>
              <a:t>Step 6 - </a:t>
            </a:r>
            <a:r>
              <a:rPr lang="en-GB" b="0" i="0" dirty="0">
                <a:solidFill>
                  <a:srgbClr val="333333"/>
                </a:solidFill>
                <a:effectLst/>
              </a:rPr>
              <a:t>When queue becomes empty, then produce final spanning tree by removing unused edges from the graph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0528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289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Aharoni</vt:lpstr>
      <vt:lpstr>Arial</vt:lpstr>
      <vt:lpstr>Calibri</vt:lpstr>
      <vt:lpstr>Calibri Light</vt:lpstr>
      <vt:lpstr>Comfortaa</vt:lpstr>
      <vt:lpstr>Open Sans</vt:lpstr>
      <vt:lpstr>Office Theme</vt:lpstr>
      <vt:lpstr> </vt:lpstr>
      <vt:lpstr>Traversal Introduction</vt:lpstr>
      <vt:lpstr>  BFS (Breadth First Search) </vt:lpstr>
      <vt:lpstr>  BFS (Breadth First Search) </vt:lpstr>
      <vt:lpstr>  BFS  Traversal steps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/>
  <cp:lastModifiedBy>8477</cp:lastModifiedBy>
  <cp:revision>15</cp:revision>
  <dcterms:created xsi:type="dcterms:W3CDTF">2021-04-05T03:30:21Z</dcterms:created>
  <dcterms:modified xsi:type="dcterms:W3CDTF">2022-03-22T02:12:31Z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1033-11.2.0.10078</vt:lpwstr>
  </property>
</Properties>
</file>