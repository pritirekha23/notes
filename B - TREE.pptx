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5E3A3-5B28-4960-A4DD-2A567EEB8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E40FD-DC2D-45F2-B21D-6869FA3A8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BDFB2-FEFF-4EF9-BE1C-A2310F7E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F45E-B877-42A3-A3AD-CD54B9D554FB}" type="datetimeFigureOut">
              <a:rPr lang="en-IN" smtClean="0"/>
              <a:t>14-03-2022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F9538-8E24-4D39-AC25-FADA72E96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5F119-772E-478D-B9BE-088514E6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52AA-DD69-462B-BC22-6D80DFC7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699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1CAA0-5D6E-4038-A6BA-73C975FE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DC926-33F3-46FE-9CA2-54114E9D3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47380-6205-413E-A8FF-FBD3604E8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F45E-B877-42A3-A3AD-CD54B9D554FB}" type="datetimeFigureOut">
              <a:rPr lang="en-IN" smtClean="0"/>
              <a:t>14-03-2022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94E46-4242-4988-9AAC-A129C3000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CC333-8D9B-4BBE-9C85-9A76805E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52AA-DD69-462B-BC22-6D80DFC7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819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03D00-7DFB-42E7-A3DC-087C78684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1C048-C6FA-407C-8AFF-036E6D011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D7678-E381-4375-95B6-EE5FCFCA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F45E-B877-42A3-A3AD-CD54B9D554FB}" type="datetimeFigureOut">
              <a:rPr lang="en-IN" smtClean="0"/>
              <a:t>14-03-2022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A38F4-8967-40EA-91D2-842276ECB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638D1-6554-43F4-96D9-8038328EF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52AA-DD69-462B-BC22-6D80DFC7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266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2C482-4ED2-484A-98BC-4C7EA40C0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9C3F5-8C62-444E-BF11-9A016A989B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723EC-3A42-40AD-A39E-081677A2E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860CA-2B6D-4E2E-B270-D42BDB9F7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F45E-B877-42A3-A3AD-CD54B9D554FB}" type="datetimeFigureOut">
              <a:rPr lang="en-IN" smtClean="0"/>
              <a:t>14-03-2022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6E1C4-A234-44BE-820B-B2FC3CA86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7EA16-1CF0-43BE-AE82-2C43AEDF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52AA-DD69-462B-BC22-6D80DFC7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645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3F44C-65A7-4AB0-8059-15AE040B0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B0A4A-9FFA-43DA-991F-1677EA500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85D05-7A4E-405B-9158-62354B4C4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5F3BC-A8B4-4BB4-8E4F-25A525F26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089B57-B54F-4EA8-8DF3-42D93673EE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07F36C-D398-406B-9285-723AE458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F45E-B877-42A3-A3AD-CD54B9D554FB}" type="datetimeFigureOut">
              <a:rPr lang="en-IN" smtClean="0"/>
              <a:t>14-03-2022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52A71A-A326-4EDC-B71F-1EAE8E3AE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37CE3C-C3A9-4540-9421-1132E67F0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52AA-DD69-462B-BC22-6D80DFC7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814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2772-8927-441B-B1EA-37F2466DA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17FBA9-95EC-4A6B-A64D-DD75FF9D6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F45E-B877-42A3-A3AD-CD54B9D554FB}" type="datetimeFigureOut">
              <a:rPr lang="en-IN" smtClean="0"/>
              <a:t>14-03-2022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8B3E84-EE1F-4073-A35E-A5882477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2DCBF-952C-4F95-89E2-901631CB4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52AA-DD69-462B-BC22-6D80DFC7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556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C84719-2556-41C6-A16C-906AE4CB5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F45E-B877-42A3-A3AD-CD54B9D554FB}" type="datetimeFigureOut">
              <a:rPr lang="en-IN" smtClean="0"/>
              <a:t>14-03-2022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AD0823-22FE-4CDC-8F36-7E05477D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38ED2-AD3C-4EDB-9EFE-D5DB1F229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52AA-DD69-462B-BC22-6D80DFC7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580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C53B-3D5B-4462-889D-546388D3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5DF6C-4C2B-40B2-9A20-D83298E5A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D3F47-F499-4239-92A8-C11775E9D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4AF45-D927-474B-9D30-C1A00A420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F45E-B877-42A3-A3AD-CD54B9D554FB}" type="datetimeFigureOut">
              <a:rPr lang="en-IN" smtClean="0"/>
              <a:t>14-03-2022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761DA-E37A-4C5F-A195-8AC357C2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52F29-53A2-4A31-B5DC-98E79C53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52AA-DD69-462B-BC22-6D80DFC7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216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DCE1-AA80-4EF8-B6A4-43D390985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183E4-C72C-4CF7-96C5-23F888559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8D929-463C-48C6-BC38-989CEE3FA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BE749-A58E-4E05-B6FD-E79345821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F45E-B877-42A3-A3AD-CD54B9D554FB}" type="datetimeFigureOut">
              <a:rPr lang="en-IN" smtClean="0"/>
              <a:t>14-03-2022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0977C-BF46-4A16-8C28-87BA6EEB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AD7AC-53F9-456E-A568-0CD85D35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52AA-DD69-462B-BC22-6D80DFC7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874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EB82-EB97-4A05-86BD-F660817A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41007-4716-4D33-BC3A-2F667F2B2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92FA8-3A7F-4E7F-8CDC-B60B26812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F45E-B877-42A3-A3AD-CD54B9D554FB}" type="datetimeFigureOut">
              <a:rPr lang="en-IN" smtClean="0"/>
              <a:t>14-03-2022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E18F8-5273-441E-A141-CBA156769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C5308-8311-4967-97BF-9A1DEA86C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52AA-DD69-462B-BC22-6D80DFC7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453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12CCAD-7261-4A78-B048-B24450839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10008-BC16-459F-9B13-129301802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CCEE7-7017-472F-B608-559B9D6AA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F45E-B877-42A3-A3AD-CD54B9D554FB}" type="datetimeFigureOut">
              <a:rPr lang="en-IN" smtClean="0"/>
              <a:t>14-03-2022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54E9A-C6FB-4C62-8CF8-F1627B6DE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F5853-D8B6-4764-B95F-870CECE1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52AA-DD69-462B-BC22-6D80DFC7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882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8D13AD-DB76-4EE3-A69C-DB54772E0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20D3E-0830-4F07-9D1A-CC3AF2207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F826B-AC75-4246-8158-B3D453E240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9F45E-B877-42A3-A3AD-CD54B9D554FB}" type="datetimeFigureOut">
              <a:rPr lang="en-IN" smtClean="0"/>
              <a:t>14-03-2022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D9413-0FCA-48BF-AE49-7340565C9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A7D93-0200-40F2-831A-6114B37C5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B52AA-DD69-462B-BC22-6D80DFC7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843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75D5-72C2-42A5-9AA7-8DD04F0E06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 - TREE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08184-067F-49AC-9656-6E4E149B63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4418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7AA16-662F-4CEE-A7F4-F1ACDD157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76791" cy="734805"/>
          </a:xfrm>
        </p:spPr>
        <p:txBody>
          <a:bodyPr>
            <a:normAutofit fontScale="90000"/>
          </a:bodyPr>
          <a:lstStyle/>
          <a:p>
            <a:br>
              <a:rPr lang="en-IN" b="1" i="0" dirty="0">
                <a:solidFill>
                  <a:srgbClr val="FF0000"/>
                </a:solidFill>
                <a:effectLst/>
                <a:latin typeface="Comfortaa"/>
              </a:rPr>
            </a:br>
            <a:r>
              <a:rPr lang="en-IN" b="1" i="0" dirty="0">
                <a:solidFill>
                  <a:srgbClr val="FF0000"/>
                </a:solidFill>
                <a:effectLst/>
                <a:latin typeface="Comfortaa"/>
              </a:rPr>
              <a:t>B - Tree</a:t>
            </a:r>
            <a:br>
              <a:rPr lang="en-IN" b="1" i="0" dirty="0">
                <a:solidFill>
                  <a:srgbClr val="FF0000"/>
                </a:solidFill>
                <a:effectLst/>
                <a:latin typeface="Comfortaa"/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7823D-CA92-454D-8785-4CAFA3BC3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930"/>
            <a:ext cx="10515600" cy="507703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In search trees like binary search tree, AVL Tree, Red-Black tree, etc., every node contains only one value (key) and a maximum of two children.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But there is a special type of search tree called B-Tree in which a node contains more than one value (key) and more than two children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B-Tree was developed in the year 1972 by </a:t>
            </a: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Bayer and McCreight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with the name </a:t>
            </a:r>
            <a:r>
              <a:rPr lang="en-US" b="1" i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Height Balanced m-way Search Tree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. Later it was named as B-Tree.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30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7AA16-662F-4CEE-A7F4-F1ACDD157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76791" cy="734805"/>
          </a:xfrm>
        </p:spPr>
        <p:txBody>
          <a:bodyPr>
            <a:normAutofit fontScale="90000"/>
          </a:bodyPr>
          <a:lstStyle/>
          <a:p>
            <a:br>
              <a:rPr lang="en-IN" b="1" i="0" dirty="0">
                <a:solidFill>
                  <a:srgbClr val="FF0000"/>
                </a:solidFill>
                <a:effectLst/>
                <a:latin typeface="Comfortaa"/>
              </a:rPr>
            </a:br>
            <a:r>
              <a:rPr lang="en-IN" b="1" i="0" dirty="0">
                <a:solidFill>
                  <a:srgbClr val="FF0000"/>
                </a:solidFill>
                <a:effectLst/>
                <a:latin typeface="Comfortaa"/>
              </a:rPr>
              <a:t>B – Tree(cont.)</a:t>
            </a:r>
            <a:br>
              <a:rPr lang="en-IN" b="1" i="0" dirty="0">
                <a:solidFill>
                  <a:srgbClr val="FF0000"/>
                </a:solidFill>
                <a:effectLst/>
                <a:latin typeface="Comfortaa"/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7823D-CA92-454D-8785-4CAFA3BC3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930"/>
            <a:ext cx="10515600" cy="5077033"/>
          </a:xfrm>
        </p:spPr>
        <p:txBody>
          <a:bodyPr/>
          <a:lstStyle/>
          <a:p>
            <a:pPr marL="0" indent="0">
              <a:buNone/>
            </a:pPr>
            <a:r>
              <a:rPr lang="en-IN" b="0" i="0" u="sng" dirty="0">
                <a:solidFill>
                  <a:srgbClr val="00B050"/>
                </a:solidFill>
                <a:effectLst/>
                <a:latin typeface="Open Sans"/>
              </a:rPr>
              <a:t>B-Tree </a:t>
            </a:r>
            <a:r>
              <a:rPr lang="en-IN" b="0" i="0" u="sng" dirty="0" err="1">
                <a:solidFill>
                  <a:srgbClr val="00B050"/>
                </a:solidFill>
                <a:effectLst/>
                <a:latin typeface="Open Sans"/>
              </a:rPr>
              <a:t>Defination</a:t>
            </a:r>
            <a:r>
              <a:rPr lang="en-IN" b="0" i="0" u="sng" dirty="0">
                <a:solidFill>
                  <a:srgbClr val="00B050"/>
                </a:solidFill>
                <a:effectLst/>
                <a:latin typeface="Open Sans"/>
              </a:rPr>
              <a:t> :</a:t>
            </a:r>
            <a:endParaRPr lang="en-IN" u="sng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5D5545-1B87-4F48-A189-7AE19E9404EB}"/>
              </a:ext>
            </a:extLst>
          </p:cNvPr>
          <p:cNvSpPr/>
          <p:nvPr/>
        </p:nvSpPr>
        <p:spPr>
          <a:xfrm>
            <a:off x="940904" y="1775791"/>
            <a:ext cx="10515600" cy="165320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B-Tree is a self-balanced search tree in which every node contains multiple keys and has more than two children</a:t>
            </a:r>
            <a:endParaRPr lang="en-IN" sz="2800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50D8A8-6C5E-47D1-9D63-8F57C6DED8AF}"/>
              </a:ext>
            </a:extLst>
          </p:cNvPr>
          <p:cNvSpPr/>
          <p:nvPr/>
        </p:nvSpPr>
        <p:spPr>
          <a:xfrm>
            <a:off x="965752" y="4052577"/>
            <a:ext cx="10515600" cy="1653209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But Here, the number of keys in a node and number of children for a node depends on the order of B-Tree. Every B-Tree has an order</a:t>
            </a:r>
            <a:endParaRPr lang="en-IN" sz="2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71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7AA16-662F-4CEE-A7F4-F1ACDD157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76791" cy="734805"/>
          </a:xfrm>
        </p:spPr>
        <p:txBody>
          <a:bodyPr>
            <a:normAutofit fontScale="90000"/>
          </a:bodyPr>
          <a:lstStyle/>
          <a:p>
            <a:br>
              <a:rPr lang="en-IN" b="1" i="0" dirty="0">
                <a:solidFill>
                  <a:srgbClr val="FF0000"/>
                </a:solidFill>
                <a:effectLst/>
                <a:latin typeface="Comfortaa"/>
              </a:rPr>
            </a:br>
            <a:r>
              <a:rPr lang="en-IN" b="1" i="0" dirty="0">
                <a:solidFill>
                  <a:srgbClr val="FF0000"/>
                </a:solidFill>
                <a:effectLst/>
                <a:latin typeface="Comfortaa"/>
              </a:rPr>
              <a:t>B – Tree </a:t>
            </a:r>
            <a:r>
              <a:rPr lang="en-IN" b="0" i="0" dirty="0">
                <a:solidFill>
                  <a:srgbClr val="333333"/>
                </a:solidFill>
                <a:effectLst/>
                <a:latin typeface="Open Sans"/>
              </a:rPr>
              <a:t> </a:t>
            </a:r>
            <a:r>
              <a:rPr lang="en-IN" b="1" i="0" dirty="0">
                <a:solidFill>
                  <a:srgbClr val="FF0000"/>
                </a:solidFill>
                <a:effectLst/>
                <a:latin typeface="Open Sans"/>
              </a:rPr>
              <a:t>properties</a:t>
            </a:r>
            <a:br>
              <a:rPr lang="en-IN" b="1" i="0" dirty="0">
                <a:solidFill>
                  <a:srgbClr val="FF0000"/>
                </a:solidFill>
                <a:effectLst/>
                <a:latin typeface="Comfortaa"/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7823D-CA92-454D-8785-4CAFA3BC3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696"/>
            <a:ext cx="10515600" cy="5077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B-Tree of Order m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has the following properties...</a:t>
            </a:r>
          </a:p>
          <a:p>
            <a:pPr marL="0" indent="0">
              <a:buNone/>
            </a:pP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Property #1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- All </a:t>
            </a: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leaf nodes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must be </a:t>
            </a: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at same level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Property #2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- All nodes except root must have at least </a:t>
            </a: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[m/2]-1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keys and maximum of </a:t>
            </a: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m-1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keys.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Property #3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- All non leaf nodes except root (i.e. all internal nodes) must have at least </a:t>
            </a: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m/2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children.</a:t>
            </a: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97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7AA16-662F-4CEE-A7F4-F1ACDD157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76791" cy="734805"/>
          </a:xfrm>
        </p:spPr>
        <p:txBody>
          <a:bodyPr>
            <a:normAutofit fontScale="90000"/>
          </a:bodyPr>
          <a:lstStyle/>
          <a:p>
            <a:br>
              <a:rPr lang="en-IN" b="1" i="0" dirty="0">
                <a:solidFill>
                  <a:srgbClr val="FF0000"/>
                </a:solidFill>
                <a:effectLst/>
                <a:latin typeface="Comfortaa"/>
              </a:rPr>
            </a:br>
            <a:r>
              <a:rPr lang="en-IN" b="1" i="0" dirty="0">
                <a:solidFill>
                  <a:srgbClr val="FF0000"/>
                </a:solidFill>
                <a:effectLst/>
                <a:latin typeface="Comfortaa"/>
              </a:rPr>
              <a:t>B – Tree </a:t>
            </a:r>
            <a:r>
              <a:rPr lang="en-IN" b="0" i="0" dirty="0">
                <a:solidFill>
                  <a:srgbClr val="333333"/>
                </a:solidFill>
                <a:effectLst/>
                <a:latin typeface="Open Sans"/>
              </a:rPr>
              <a:t> </a:t>
            </a:r>
            <a:r>
              <a:rPr lang="en-IN" b="1" i="0" dirty="0">
                <a:solidFill>
                  <a:srgbClr val="FF0000"/>
                </a:solidFill>
                <a:effectLst/>
                <a:latin typeface="Open Sans"/>
              </a:rPr>
              <a:t>properties (cont.)</a:t>
            </a:r>
            <a:br>
              <a:rPr lang="en-IN" b="1" i="0" dirty="0">
                <a:solidFill>
                  <a:srgbClr val="FF0000"/>
                </a:solidFill>
                <a:effectLst/>
                <a:latin typeface="Comfortaa"/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7823D-CA92-454D-8785-4CAFA3BC3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696"/>
            <a:ext cx="10515600" cy="5077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B-Tree of Order m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has the following properties...</a:t>
            </a:r>
          </a:p>
          <a:p>
            <a:pPr marL="0" indent="0">
              <a:buNone/>
            </a:pP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Property #4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- If the root node is a non leaf node, then it must have </a:t>
            </a: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at least 2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children.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Property #5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- A non leaf node with </a:t>
            </a: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n-1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keys must have </a:t>
            </a: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number of children.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Property #6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- All the </a:t>
            </a: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key values in a node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must be in </a:t>
            </a: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Ascending Order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39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01C-02A7-45BB-BCAE-85C424B38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05730" cy="734805"/>
          </a:xfrm>
        </p:spPr>
        <p:txBody>
          <a:bodyPr>
            <a:normAutofit fontScale="90000"/>
          </a:bodyPr>
          <a:lstStyle/>
          <a:p>
            <a:br>
              <a:rPr lang="en-US" sz="3200" b="1" i="0" dirty="0">
                <a:solidFill>
                  <a:srgbClr val="E00D50"/>
                </a:solidFill>
                <a:effectLst/>
                <a:latin typeface="Open Sans"/>
              </a:rPr>
            </a:br>
            <a:r>
              <a:rPr lang="en-US" sz="3200" b="1" i="0" dirty="0">
                <a:solidFill>
                  <a:srgbClr val="E00D50"/>
                </a:solidFill>
                <a:effectLst/>
                <a:latin typeface="Open Sans"/>
              </a:rPr>
              <a:t>Operations on a B-Tree</a:t>
            </a:r>
            <a:br>
              <a:rPr lang="en-US" sz="3200" b="1" i="0" dirty="0">
                <a:solidFill>
                  <a:srgbClr val="E00D50"/>
                </a:solidFill>
                <a:effectLst/>
                <a:latin typeface="Open Sans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C18FF-0641-4435-9367-564DA0B9C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904" y="1219200"/>
            <a:ext cx="10412896" cy="4957763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The following operations are performed on a B-Tree...</a:t>
            </a: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Insertion</a:t>
            </a: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Deletion</a:t>
            </a: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Search</a:t>
            </a:r>
          </a:p>
          <a:p>
            <a:pPr marL="0" indent="0" algn="just">
              <a:buNone/>
            </a:pPr>
            <a:endParaRPr lang="en-US" b="1" i="0" dirty="0">
              <a:solidFill>
                <a:srgbClr val="333333"/>
              </a:solidFill>
              <a:effectLst/>
              <a:latin typeface="Open San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76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01C-02A7-45BB-BCAE-85C424B38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05730" cy="734805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sz="32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Insertion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C18FF-0641-4435-9367-564DA0B9C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904" y="1219200"/>
            <a:ext cx="10412896" cy="4957763"/>
          </a:xfrm>
        </p:spPr>
        <p:txBody>
          <a:bodyPr/>
          <a:lstStyle/>
          <a:p>
            <a:pPr marL="0" indent="0" algn="just">
              <a:buNone/>
            </a:pPr>
            <a:endParaRPr lang="en-US" b="1" i="0" dirty="0">
              <a:solidFill>
                <a:srgbClr val="333333"/>
              </a:solidFill>
              <a:effectLst/>
              <a:latin typeface="Open Sans"/>
            </a:endParaRP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C29FC1-F494-496E-8928-ABED7289D6F7}"/>
              </a:ext>
            </a:extLst>
          </p:cNvPr>
          <p:cNvSpPr/>
          <p:nvPr/>
        </p:nvSpPr>
        <p:spPr>
          <a:xfrm>
            <a:off x="940904" y="1775791"/>
            <a:ext cx="10515600" cy="165320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In a B-Tree, a new element must be added only at the leaf node. That means, the new key Value is always attached to the leaf node only.</a:t>
            </a:r>
            <a:endParaRPr lang="en-IN" sz="28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12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01C-02A7-45BB-BCAE-85C424B38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05730" cy="734805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sz="32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Insertion Algorithm / steps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C18FF-0641-4435-9367-564DA0B9C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904" y="1219200"/>
            <a:ext cx="10412896" cy="49577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i="0" dirty="0">
                <a:solidFill>
                  <a:srgbClr val="162F59"/>
                </a:solidFill>
                <a:effectLst/>
                <a:latin typeface="Consolas" panose="020B0609020204030204" pitchFamily="49" charset="0"/>
              </a:rPr>
              <a:t>.Step 1 - 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Check whether tree is Empty.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62F59"/>
                </a:solidFill>
                <a:effectLst/>
                <a:latin typeface="Consolas" panose="020B0609020204030204" pitchFamily="49" charset="0"/>
              </a:rPr>
              <a:t>Step 2 - 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If tree is </a:t>
            </a: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then create a new node with new key value and insert it into the tree as a root node.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62F59"/>
                </a:solidFill>
                <a:effectLst/>
                <a:latin typeface="Consolas" panose="020B0609020204030204" pitchFamily="49" charset="0"/>
              </a:rPr>
              <a:t>Step 3 - 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If tree is </a:t>
            </a: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Not Empty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then find the suitable leaf node to which the new key value is added using Binary Search Tree logic.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62F59"/>
                </a:solidFill>
                <a:effectLst/>
                <a:latin typeface="Consolas" panose="020B0609020204030204" pitchFamily="49" charset="0"/>
              </a:rPr>
              <a:t>Step 4 - 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If that leaf node has empty position, add the new key value to that leaf node in ascending order of key value within the node.</a:t>
            </a:r>
          </a:p>
          <a:p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88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01C-02A7-45BB-BCAE-85C424B38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05730" cy="734805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sz="32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Insertion Algorithm / steps (cont.)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C18FF-0641-4435-9367-564DA0B9C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904" y="1219200"/>
            <a:ext cx="10412896" cy="49577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62F59"/>
                </a:solidFill>
                <a:effectLst/>
                <a:latin typeface="Consolas" panose="020B0609020204030204" pitchFamily="49" charset="0"/>
              </a:rPr>
              <a:t>Step 5 - 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If that leaf node is already full, </a:t>
            </a:r>
            <a:r>
              <a:rPr lang="en-US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that leaf node by sending middle value to its parent node. Repeat the same until the sending value is fixed into a node.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62F59"/>
                </a:solidFill>
                <a:effectLst/>
                <a:latin typeface="Consolas" panose="020B0609020204030204" pitchFamily="49" charset="0"/>
              </a:rPr>
              <a:t>Step 6 - 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lang="en-US" b="0" i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the splitting 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is performed at root node then the middle value becomes new root node for the tree and the height of the tree is increased by one.</a:t>
            </a:r>
          </a:p>
        </p:txBody>
      </p:sp>
    </p:spTree>
    <p:extLst>
      <p:ext uri="{BB962C8B-B14F-4D97-AF65-F5344CB8AC3E}">
        <p14:creationId xmlns:p14="http://schemas.microsoft.com/office/powerpoint/2010/main" val="816777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01C-02A7-45BB-BCAE-85C424B38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05730" cy="734805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sz="32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Insertion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C18FF-0641-4435-9367-564DA0B9C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904" y="1219200"/>
            <a:ext cx="10412896" cy="49577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B050"/>
                </a:solidFill>
                <a:effectLst/>
                <a:latin typeface="Open Sans"/>
              </a:rPr>
              <a:t>Construct a </a:t>
            </a:r>
            <a:r>
              <a:rPr lang="en-US" b="1" i="0" dirty="0">
                <a:solidFill>
                  <a:srgbClr val="00B050"/>
                </a:solidFill>
                <a:effectLst/>
                <a:latin typeface="Open Sans"/>
              </a:rPr>
              <a:t>B-Tree of Order 3</a:t>
            </a:r>
            <a:r>
              <a:rPr lang="en-US" b="0" i="0" dirty="0">
                <a:solidFill>
                  <a:srgbClr val="00B050"/>
                </a:solidFill>
                <a:effectLst/>
                <a:latin typeface="Open Sans"/>
              </a:rPr>
              <a:t> by inserting numbers from 1 to 10.</a:t>
            </a:r>
            <a:endParaRPr lang="en-US" b="0" i="0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652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01C-02A7-45BB-BCAE-85C424B38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05730" cy="734805"/>
          </a:xfrm>
        </p:spPr>
        <p:txBody>
          <a:bodyPr>
            <a:normAutofit/>
          </a:bodyPr>
          <a:lstStyle/>
          <a:p>
            <a:pPr algn="just"/>
            <a:r>
              <a:rPr lang="en-US" sz="32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2. Deletion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777A843-B30E-4912-A617-914486D09A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74449"/>
            <a:ext cx="10858613" cy="3799916"/>
          </a:xfrm>
        </p:spPr>
      </p:pic>
    </p:spTree>
    <p:extLst>
      <p:ext uri="{BB962C8B-B14F-4D97-AF65-F5344CB8AC3E}">
        <p14:creationId xmlns:p14="http://schemas.microsoft.com/office/powerpoint/2010/main" val="244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561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Comfortaa</vt:lpstr>
      <vt:lpstr>Consolas</vt:lpstr>
      <vt:lpstr>Open Sans</vt:lpstr>
      <vt:lpstr>Wingdings</vt:lpstr>
      <vt:lpstr>Office Theme</vt:lpstr>
      <vt:lpstr>B - TREE</vt:lpstr>
      <vt:lpstr> B - Tree </vt:lpstr>
      <vt:lpstr> B – Tree(cont.) </vt:lpstr>
      <vt:lpstr> B – Tree  properties </vt:lpstr>
      <vt:lpstr> B – Tree  properties (cont.) </vt:lpstr>
      <vt:lpstr> Operations on a B-Tree </vt:lpstr>
      <vt:lpstr>Insertion </vt:lpstr>
      <vt:lpstr>Insertion Algorithm / steps  </vt:lpstr>
      <vt:lpstr>Insertion Algorithm / steps (cont.)  </vt:lpstr>
      <vt:lpstr>Insertion Example</vt:lpstr>
      <vt:lpstr>2. Deletion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 - TREE</dc:title>
  <dc:creator>surendra panda</dc:creator>
  <cp:lastModifiedBy>Pritirekha Panda</cp:lastModifiedBy>
  <cp:revision>7</cp:revision>
  <dcterms:created xsi:type="dcterms:W3CDTF">2021-03-24T03:11:54Z</dcterms:created>
  <dcterms:modified xsi:type="dcterms:W3CDTF">2022-03-15T06:52:21Z</dcterms:modified>
</cp:coreProperties>
</file>