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60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>
      <p:cViewPr varScale="1">
        <p:scale>
          <a:sx n="72" d="100"/>
          <a:sy n="72" d="100"/>
        </p:scale>
        <p:origin x="618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1C593-65D0-4073-BCC9-577B9352EA97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A1C593-65D0-4073-BCC9-577B9352EA97}" type="datetimeFigureOut">
              <a:rPr lang="en-US" smtClean="0"/>
              <a:t>3/28/2022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B618960-8005-486C-9A75-10CB2AAC16F9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 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804454" y="4429919"/>
            <a:ext cx="5439410" cy="1046920"/>
          </a:xfrm>
          <a:prstGeom prst="roundRect">
            <a:avLst/>
          </a:prstGeom>
          <a:gradFill>
            <a:gsLst>
              <a:gs pos="0">
                <a:srgbClr val="E30000"/>
              </a:gs>
              <a:gs pos="100000">
                <a:srgbClr val="760303"/>
              </a:gs>
            </a:gsLst>
            <a:lin scaled="0"/>
          </a:gradFill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6600" b="1" dirty="0">
                <a:solidFill>
                  <a:schemeClr val="bg1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BFS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BB7556-A95E-4827-BBE3-E3824E348005}"/>
              </a:ext>
            </a:extLst>
          </p:cNvPr>
          <p:cNvSpPr txBox="1"/>
          <p:nvPr/>
        </p:nvSpPr>
        <p:spPr>
          <a:xfrm>
            <a:off x="4611757" y="5645426"/>
            <a:ext cx="82561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3600" b="1" i="0" dirty="0">
                <a:solidFill>
                  <a:srgbClr val="333333"/>
                </a:solidFill>
                <a:effectLst/>
                <a:latin typeface="Comfortaa"/>
              </a:rPr>
              <a:t>Graph Traversal Technique  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CCD91-C538-4D18-A0FD-AA47F78C5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119271"/>
            <a:ext cx="11953461" cy="660121"/>
          </a:xfrm>
          <a:solidFill>
            <a:srgbClr val="0070C0"/>
          </a:solidFill>
        </p:spPr>
        <p:txBody>
          <a:bodyPr>
            <a:noAutofit/>
          </a:bodyPr>
          <a:lstStyle/>
          <a:p>
            <a:pPr algn="ctr"/>
            <a:r>
              <a:rPr lang="en-GB" sz="3200" b="1" dirty="0">
                <a:solidFill>
                  <a:schemeClr val="bg1"/>
                </a:solidFill>
                <a:latin typeface="+mn-lt"/>
              </a:rPr>
              <a:t>Traversal Introduction</a:t>
            </a:r>
            <a:endParaRPr lang="en-IN" sz="3200" b="1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1353D-9B56-4AF3-9B2A-6268AA8B1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538" y="1113183"/>
            <a:ext cx="11953461" cy="5499651"/>
          </a:xfrm>
        </p:spPr>
        <p:txBody>
          <a:bodyPr/>
          <a:lstStyle/>
          <a:p>
            <a:r>
              <a:rPr lang="en-GB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Graph traversal is a technique used for searching a vertex in a graph.</a:t>
            </a:r>
          </a:p>
          <a:p>
            <a:endParaRPr lang="en-GB" b="0" i="0" dirty="0">
              <a:solidFill>
                <a:srgbClr val="333333"/>
              </a:solidFill>
              <a:effectLst/>
              <a:latin typeface="Open Sans" panose="020B0606030504020204" pitchFamily="34" charset="0"/>
            </a:endParaRPr>
          </a:p>
          <a:p>
            <a:r>
              <a:rPr lang="en-GB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A graph traversal finds the edges to be used in the search process without creating loops.</a:t>
            </a:r>
          </a:p>
          <a:p>
            <a:endParaRPr lang="en-GB" dirty="0">
              <a:solidFill>
                <a:srgbClr val="333333"/>
              </a:solidFill>
              <a:latin typeface="Open Sans" panose="020B0606030504020204" pitchFamily="34" charset="0"/>
            </a:endParaRPr>
          </a:p>
          <a:p>
            <a:r>
              <a:rPr lang="en-GB" b="0" i="0" dirty="0">
                <a:solidFill>
                  <a:srgbClr val="333333"/>
                </a:solidFill>
                <a:effectLst/>
                <a:latin typeface="Open Sans" panose="020B0606030504020204" pitchFamily="34" charset="0"/>
              </a:rPr>
              <a:t>That means using graph traversal we visit all the vertices of the graph without getting into looping path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91118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CCD91-C538-4D18-A0FD-AA47F78C5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539" y="119271"/>
            <a:ext cx="11953461" cy="660121"/>
          </a:xfrm>
          <a:solidFill>
            <a:srgbClr val="0070C0"/>
          </a:solidFill>
        </p:spPr>
        <p:txBody>
          <a:bodyPr>
            <a:noAutofit/>
          </a:bodyPr>
          <a:lstStyle/>
          <a:p>
            <a:pPr algn="ctr"/>
            <a:br>
              <a:rPr lang="en-IN" sz="3200" b="1" i="0" dirty="0">
                <a:solidFill>
                  <a:schemeClr val="bg1"/>
                </a:solidFill>
                <a:effectLst/>
                <a:latin typeface="+mn-lt"/>
              </a:rPr>
            </a:br>
            <a:r>
              <a:rPr lang="en-IN" sz="3200" b="1" i="0" dirty="0">
                <a:solidFill>
                  <a:schemeClr val="bg1"/>
                </a:solidFill>
                <a:effectLst/>
                <a:latin typeface="+mn-lt"/>
              </a:rPr>
              <a:t>	</a:t>
            </a:r>
            <a:r>
              <a:rPr lang="en-IN" sz="3200" b="1" dirty="0">
                <a:solidFill>
                  <a:schemeClr val="bg1"/>
                </a:solidFill>
                <a:latin typeface="+mn-lt"/>
              </a:rPr>
              <a:t>D</a:t>
            </a:r>
            <a:r>
              <a:rPr lang="en-IN" sz="3200" b="1" i="0" dirty="0">
                <a:solidFill>
                  <a:schemeClr val="bg1"/>
                </a:solidFill>
                <a:effectLst/>
                <a:latin typeface="+mn-lt"/>
              </a:rPr>
              <a:t>FS (Depth First Search)</a:t>
            </a:r>
            <a:br>
              <a:rPr lang="en-IN" sz="3200" b="1" i="0" dirty="0">
                <a:solidFill>
                  <a:schemeClr val="bg1"/>
                </a:solidFill>
                <a:effectLst/>
                <a:latin typeface="+mn-lt"/>
              </a:rPr>
            </a:br>
            <a:endParaRPr lang="en-IN" sz="3200" dirty="0">
              <a:solidFill>
                <a:schemeClr val="bg1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1353D-9B56-4AF3-9B2A-6268AA8B1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538" y="1113183"/>
            <a:ext cx="11953461" cy="5499651"/>
          </a:xfrm>
        </p:spPr>
        <p:txBody>
          <a:bodyPr/>
          <a:lstStyle/>
          <a:p>
            <a:r>
              <a:rPr lang="en-GB" dirty="0">
                <a:solidFill>
                  <a:srgbClr val="333333"/>
                </a:solidFill>
              </a:rPr>
              <a:t>DFS</a:t>
            </a:r>
            <a:r>
              <a:rPr lang="en-GB" b="0" i="0" dirty="0">
                <a:solidFill>
                  <a:srgbClr val="333333"/>
                </a:solidFill>
                <a:effectLst/>
              </a:rPr>
              <a:t> traversal of a graph produces a </a:t>
            </a:r>
            <a:r>
              <a:rPr lang="en-GB" b="1" i="0" dirty="0">
                <a:solidFill>
                  <a:srgbClr val="333333"/>
                </a:solidFill>
                <a:effectLst/>
              </a:rPr>
              <a:t>spanning tree</a:t>
            </a:r>
            <a:r>
              <a:rPr lang="en-GB" b="0" i="0" dirty="0">
                <a:solidFill>
                  <a:srgbClr val="333333"/>
                </a:solidFill>
                <a:effectLst/>
              </a:rPr>
              <a:t> as final result. </a:t>
            </a:r>
          </a:p>
          <a:p>
            <a:endParaRPr lang="en-GB" b="0" i="0" dirty="0">
              <a:solidFill>
                <a:srgbClr val="333333"/>
              </a:solidFill>
              <a:effectLst/>
            </a:endParaRPr>
          </a:p>
          <a:p>
            <a:r>
              <a:rPr lang="en-GB" b="1" i="0" dirty="0">
                <a:solidFill>
                  <a:srgbClr val="333333"/>
                </a:solidFill>
                <a:effectLst/>
              </a:rPr>
              <a:t>Spanning Tree</a:t>
            </a:r>
            <a:r>
              <a:rPr lang="en-GB" b="0" i="0" dirty="0">
                <a:solidFill>
                  <a:srgbClr val="333333"/>
                </a:solidFill>
                <a:effectLst/>
              </a:rPr>
              <a:t> is a graph without loops.</a:t>
            </a:r>
          </a:p>
          <a:p>
            <a:endParaRPr lang="en-GB" dirty="0">
              <a:solidFill>
                <a:srgbClr val="333333"/>
              </a:solidFill>
            </a:endParaRPr>
          </a:p>
          <a:p>
            <a:r>
              <a:rPr lang="en-GB" b="0" i="0" dirty="0">
                <a:solidFill>
                  <a:srgbClr val="333333"/>
                </a:solidFill>
                <a:effectLst/>
              </a:rPr>
              <a:t>We use </a:t>
            </a:r>
            <a:r>
              <a:rPr lang="en-GB" b="1" i="0" dirty="0">
                <a:solidFill>
                  <a:srgbClr val="333333"/>
                </a:solidFill>
                <a:effectLst/>
              </a:rPr>
              <a:t>stack data structure</a:t>
            </a:r>
            <a:r>
              <a:rPr lang="en-GB" b="0" i="0" dirty="0">
                <a:solidFill>
                  <a:srgbClr val="333333"/>
                </a:solidFill>
                <a:effectLst/>
              </a:rPr>
              <a:t> with maximum size of total number of vertices in the graph to implement </a:t>
            </a:r>
            <a:r>
              <a:rPr lang="en-GB" dirty="0">
                <a:solidFill>
                  <a:srgbClr val="333333"/>
                </a:solidFill>
              </a:rPr>
              <a:t>D</a:t>
            </a:r>
            <a:r>
              <a:rPr lang="en-GB" b="0" i="0" dirty="0">
                <a:solidFill>
                  <a:srgbClr val="333333"/>
                </a:solidFill>
                <a:effectLst/>
              </a:rPr>
              <a:t>FS traversal.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757877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1353D-9B56-4AF3-9B2A-6268AA8B1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538" y="1113183"/>
            <a:ext cx="11953461" cy="5499651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162F59"/>
                </a:solidFill>
                <a:effectLst/>
              </a:rPr>
              <a:t>Step 1 - </a:t>
            </a:r>
            <a:r>
              <a:rPr lang="en-GB" b="0" i="0" dirty="0">
                <a:solidFill>
                  <a:srgbClr val="333333"/>
                </a:solidFill>
                <a:effectLst/>
              </a:rPr>
              <a:t>Define a Stack of size total number of vertices in the graph.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162F59"/>
                </a:solidFill>
                <a:effectLst/>
              </a:rPr>
              <a:t>Step 2 - </a:t>
            </a:r>
            <a:r>
              <a:rPr lang="en-GB" b="0" i="0" dirty="0">
                <a:solidFill>
                  <a:srgbClr val="333333"/>
                </a:solidFill>
                <a:effectLst/>
              </a:rPr>
              <a:t>Select any vertex as </a:t>
            </a:r>
            <a:r>
              <a:rPr lang="en-GB" b="1" i="0" dirty="0">
                <a:solidFill>
                  <a:srgbClr val="333333"/>
                </a:solidFill>
                <a:effectLst/>
              </a:rPr>
              <a:t>starting point</a:t>
            </a:r>
            <a:r>
              <a:rPr lang="en-GB" b="0" i="0" dirty="0">
                <a:solidFill>
                  <a:srgbClr val="333333"/>
                </a:solidFill>
                <a:effectLst/>
              </a:rPr>
              <a:t> for traversal. Visit that vertex and push it on to the Stack.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162F59"/>
                </a:solidFill>
                <a:effectLst/>
              </a:rPr>
              <a:t>Step 3 - </a:t>
            </a:r>
            <a:r>
              <a:rPr lang="en-GB" b="0" i="0" dirty="0">
                <a:solidFill>
                  <a:srgbClr val="333333"/>
                </a:solidFill>
                <a:effectLst/>
              </a:rPr>
              <a:t>Visit any one of the non-visited </a:t>
            </a:r>
            <a:r>
              <a:rPr lang="en-GB" b="1" i="0" dirty="0">
                <a:solidFill>
                  <a:srgbClr val="333333"/>
                </a:solidFill>
                <a:effectLst/>
              </a:rPr>
              <a:t>adjacent</a:t>
            </a:r>
            <a:r>
              <a:rPr lang="en-GB" b="0" i="0" dirty="0">
                <a:solidFill>
                  <a:srgbClr val="333333"/>
                </a:solidFill>
                <a:effectLst/>
              </a:rPr>
              <a:t> vertices of a vertex which is at the top of stack and push it on to the stack.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162F59"/>
                </a:solidFill>
                <a:effectLst/>
              </a:rPr>
              <a:t>Step 4 - </a:t>
            </a:r>
            <a:r>
              <a:rPr lang="en-GB" b="0" i="0" dirty="0">
                <a:solidFill>
                  <a:srgbClr val="333333"/>
                </a:solidFill>
                <a:effectLst/>
              </a:rPr>
              <a:t>Repeat step 3 until there is no new vertex to be visited from the vertex which is at the top of the stack.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162F59"/>
                </a:solidFill>
                <a:effectLst/>
              </a:rPr>
              <a:t>Step 5 - </a:t>
            </a:r>
            <a:r>
              <a:rPr lang="en-GB" b="0" i="0" dirty="0">
                <a:solidFill>
                  <a:srgbClr val="333333"/>
                </a:solidFill>
                <a:effectLst/>
              </a:rPr>
              <a:t>When there is no new vertex to visit then use </a:t>
            </a:r>
            <a:r>
              <a:rPr lang="en-GB" b="1" i="0" dirty="0">
                <a:solidFill>
                  <a:srgbClr val="333333"/>
                </a:solidFill>
                <a:effectLst/>
              </a:rPr>
              <a:t>back tracking</a:t>
            </a:r>
            <a:r>
              <a:rPr lang="en-GB" b="0" i="0" dirty="0">
                <a:solidFill>
                  <a:srgbClr val="333333"/>
                </a:solidFill>
                <a:effectLst/>
              </a:rPr>
              <a:t> and pop one vertex from the stack.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162F59"/>
                </a:solidFill>
                <a:effectLst/>
              </a:rPr>
              <a:t>Step 6 - </a:t>
            </a:r>
            <a:r>
              <a:rPr lang="en-GB" b="0" i="0" dirty="0">
                <a:solidFill>
                  <a:srgbClr val="333333"/>
                </a:solidFill>
                <a:effectLst/>
              </a:rPr>
              <a:t>Repeat steps 3, 4 and 5 until stack becomes Empty.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162F59"/>
                </a:solidFill>
                <a:effectLst/>
              </a:rPr>
              <a:t>Step 7 - </a:t>
            </a:r>
            <a:r>
              <a:rPr lang="en-GB" b="0" i="0" dirty="0">
                <a:solidFill>
                  <a:srgbClr val="333333"/>
                </a:solidFill>
                <a:effectLst/>
              </a:rPr>
              <a:t>When stack becomes Empty, then produce final spanning tree by removing unused edges from the graph</a:t>
            </a:r>
          </a:p>
          <a:p>
            <a:endParaRPr lang="en-IN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FE197A4-3C1D-4640-9748-2842C6207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 </a:t>
            </a:r>
            <a:endParaRPr lang="en-IN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E184938-0D5F-4CE5-968E-1A4A91284EC1}"/>
              </a:ext>
            </a:extLst>
          </p:cNvPr>
          <p:cNvSpPr txBox="1">
            <a:spLocks/>
          </p:cNvSpPr>
          <p:nvPr/>
        </p:nvSpPr>
        <p:spPr>
          <a:xfrm>
            <a:off x="238539" y="119271"/>
            <a:ext cx="11953461" cy="660121"/>
          </a:xfrm>
          <a:prstGeom prst="rect">
            <a:avLst/>
          </a:prstGeom>
          <a:solidFill>
            <a:srgbClr val="0070C0"/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br>
              <a:rPr lang="en-IN" sz="3200" b="1">
                <a:solidFill>
                  <a:schemeClr val="bg1"/>
                </a:solidFill>
                <a:latin typeface="+mn-lt"/>
              </a:rPr>
            </a:br>
            <a:r>
              <a:rPr lang="en-IN" sz="3200" b="1">
                <a:solidFill>
                  <a:schemeClr val="bg1"/>
                </a:solidFill>
                <a:latin typeface="+mn-lt"/>
              </a:rPr>
              <a:t>	DFS (Depth First Search)</a:t>
            </a:r>
            <a:br>
              <a:rPr lang="en-IN" sz="3200" b="1">
                <a:solidFill>
                  <a:schemeClr val="bg1"/>
                </a:solidFill>
                <a:latin typeface="+mn-lt"/>
              </a:rPr>
            </a:br>
            <a:endParaRPr lang="en-IN" sz="3200" dirty="0">
              <a:solidFill>
                <a:schemeClr val="bg1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005282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271</Words>
  <Application>Microsoft Office PowerPoint</Application>
  <PresentationFormat>Widescreen</PresentationFormat>
  <Paragraphs>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1" baseType="lpstr">
      <vt:lpstr>Aharoni</vt:lpstr>
      <vt:lpstr>Arial</vt:lpstr>
      <vt:lpstr>Calibri</vt:lpstr>
      <vt:lpstr>Calibri Light</vt:lpstr>
      <vt:lpstr>Comfortaa</vt:lpstr>
      <vt:lpstr>Open Sans</vt:lpstr>
      <vt:lpstr>Office Theme</vt:lpstr>
      <vt:lpstr> </vt:lpstr>
      <vt:lpstr>Traversal Introduction</vt:lpstr>
      <vt:lpstr>  DFS (Depth First Search) </vt:lpstr>
      <vt:lpstr>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</dc:title>
  <dc:creator/>
  <cp:lastModifiedBy>8477</cp:lastModifiedBy>
  <cp:revision>19</cp:revision>
  <dcterms:created xsi:type="dcterms:W3CDTF">2021-04-05T03:30:21Z</dcterms:created>
  <dcterms:modified xsi:type="dcterms:W3CDTF">2022-03-28T03:23:14Z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1033-11.2.0.10078</vt:lpwstr>
  </property>
</Properties>
</file>